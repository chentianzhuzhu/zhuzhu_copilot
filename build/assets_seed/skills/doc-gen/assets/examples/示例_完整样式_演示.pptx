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005840"/>
            <a:ext cx="3566160" cy="3566160"/>
          </a:xfrm>
          <a:prstGeom prst="ellipse">
            <a:avLst/>
          </a:prstGeom>
          <a:solidFill>
            <a:srgbClr val="12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5852160"/>
            <a:ext cx="2834640" cy="2834640"/>
          </a:xfrm>
          <a:prstGeom prst="ellipse">
            <a:avLst/>
          </a:prstGeom>
          <a:solidFill>
            <a:srgbClr val="08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60152" cy="1737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办公增强能力演示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4041648"/>
            <a:ext cx="1216152" cy="45720"/>
          </a:xfrm>
          <a:prstGeom prst="rect">
            <a:avLst/>
          </a:prstGeom>
          <a:solidFill>
            <a:srgbClr val="12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60152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C9D2E0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9144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FB8DE"/>
                </a:solidFill>
                <a:latin typeface="微软雅黑"/>
                <a:ea typeface="微软雅黑"/>
              </a:rPr>
              <a:t>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82296" cy="475488"/>
          </a:xfrm>
          <a:prstGeom prst="rect">
            <a:avLst/>
          </a:prstGeom>
          <a:solidFill>
            <a:srgbClr val="12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457200"/>
            <a:ext cx="100584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6333E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31089"/>
          </a:xfrm>
          <a:prstGeom prst="rect">
            <a:avLst/>
          </a:prstGeom>
          <a:solidFill>
            <a:srgbClr val="12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6AEB8"/>
                </a:solidFill>
                <a:latin typeface="微软雅黑"/>
                <a:ea typeface="微软雅黑"/>
              </a:rPr>
              <a:t>zhuzhu Copilot · doc-gen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9144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FB8DE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11064240" cy="155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 i="0">
                <a:solidFill>
                  <a:srgbClr val="26333E"/>
                </a:solidFill>
                <a:latin typeface="微软雅黑"/>
                <a:ea typeface="微软雅黑"/>
              </a:rPr>
              <a:t>•  </a:t>
            </a:r>
            <a:r>
              <a:rPr sz="1700" b="0" i="0">
                <a:solidFill>
                  <a:srgbClr val="26333E"/>
                </a:solidFill>
                <a:latin typeface="微软雅黑"/>
                <a:ea typeface="微软雅黑"/>
              </a:rPr>
              <a:t>一、项目背景与目标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26333E"/>
                </a:solidFill>
                <a:latin typeface="微软雅黑"/>
                <a:ea typeface="微软雅黑"/>
              </a:rPr>
              <a:t>•  </a:t>
            </a:r>
            <a:r>
              <a:rPr sz="1700" b="0" i="0">
                <a:solidFill>
                  <a:srgbClr val="26333E"/>
                </a:solidFill>
                <a:latin typeface="微软雅黑"/>
                <a:ea typeface="微软雅黑"/>
              </a:rPr>
              <a:t>二、关键数据表现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26333E"/>
                </a:solidFill>
                <a:latin typeface="微软雅黑"/>
                <a:ea typeface="微软雅黑"/>
              </a:rPr>
              <a:t>•  </a:t>
            </a:r>
            <a:r>
              <a:rPr sz="1700" b="0" i="0">
                <a:solidFill>
                  <a:srgbClr val="26333E"/>
                </a:solidFill>
                <a:latin typeface="微软雅黑"/>
                <a:ea typeface="微软雅黑"/>
              </a:rPr>
              <a:t>三、方案与指标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26333E"/>
                </a:solidFill>
                <a:latin typeface="微软雅黑"/>
                <a:ea typeface="微软雅黑"/>
              </a:rPr>
              <a:t>•  </a:t>
            </a:r>
            <a:r>
              <a:rPr sz="1700" b="0" i="0">
                <a:solidFill>
                  <a:srgbClr val="26333E"/>
                </a:solidFill>
                <a:latin typeface="微软雅黑"/>
                <a:ea typeface="微软雅黑"/>
              </a:rPr>
              <a:t>四、结论与建议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82296" cy="475488"/>
          </a:xfrm>
          <a:prstGeom prst="rect">
            <a:avLst/>
          </a:prstGeom>
          <a:solidFill>
            <a:srgbClr val="12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457200"/>
            <a:ext cx="100584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6333E"/>
                </a:solidFill>
                <a:latin typeface="微软雅黑"/>
                <a:ea typeface="微软雅黑"/>
              </a:rPr>
              <a:t>一、项目背景与目标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31089"/>
          </a:xfrm>
          <a:prstGeom prst="rect">
            <a:avLst/>
          </a:prstGeom>
          <a:solidFill>
            <a:srgbClr val="12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6AEB8"/>
                </a:solidFill>
                <a:latin typeface="微软雅黑"/>
                <a:ea typeface="微软雅黑"/>
              </a:rPr>
              <a:t>zhuzhu Copilot · doc-gen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9144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FB8DE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35608"/>
            <a:ext cx="3553968" cy="3614165"/>
          </a:xfrm>
          <a:prstGeom prst="roundRect">
            <a:avLst>
              <a:gd name="adj" fmla="val 5000"/>
            </a:avLst>
          </a:prstGeom>
          <a:solidFill>
            <a:srgbClr val="E0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55064"/>
            <a:ext cx="566928" cy="82296"/>
          </a:xfrm>
          <a:prstGeom prst="rect">
            <a:avLst/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47088"/>
            <a:ext cx="3188208" cy="297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1" i="0">
                <a:solidFill>
                  <a:srgbClr val="0E5A8A"/>
                </a:solidFill>
                <a:latin typeface="微软雅黑"/>
                <a:ea typeface="微软雅黑"/>
              </a:rPr>
              <a:t>+30%</a:t>
            </a:r>
          </a:p>
          <a:p>
            <a:r>
              <a:rPr sz="1350" b="0" i="0">
                <a:solidFill>
                  <a:srgbClr val="26333E"/>
                </a:solidFill>
                <a:latin typeface="微软雅黑"/>
                <a:ea typeface="微软雅黑"/>
              </a:rPr>
              <a:t>效率提升目标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1435608"/>
            <a:ext cx="3553968" cy="3614165"/>
          </a:xfrm>
          <a:prstGeom prst="roundRect">
            <a:avLst>
              <a:gd name="adj" fmla="val 5000"/>
            </a:avLst>
          </a:prstGeom>
          <a:solidFill>
            <a:srgbClr val="E0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8096" y="1655064"/>
            <a:ext cx="566928" cy="82296"/>
          </a:xfrm>
          <a:prstGeom prst="rect">
            <a:avLst/>
          </a:prstGeom>
          <a:solidFill>
            <a:srgbClr val="12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4944" y="1847088"/>
            <a:ext cx="3188208" cy="297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1" i="0">
                <a:solidFill>
                  <a:srgbClr val="12A8C0"/>
                </a:solidFill>
                <a:latin typeface="微软雅黑"/>
                <a:ea typeface="微软雅黑"/>
              </a:rPr>
              <a:t>-15%</a:t>
            </a:r>
          </a:p>
          <a:p>
            <a:r>
              <a:rPr sz="1350" b="0" i="0">
                <a:solidFill>
                  <a:srgbClr val="26333E"/>
                </a:solidFill>
                <a:latin typeface="微软雅黑"/>
                <a:ea typeface="微软雅黑"/>
              </a:rPr>
              <a:t>成本下降目标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199" y="1435608"/>
            <a:ext cx="3553968" cy="3614165"/>
          </a:xfrm>
          <a:prstGeom prst="roundRect">
            <a:avLst>
              <a:gd name="adj" fmla="val 5000"/>
            </a:avLst>
          </a:prstGeom>
          <a:solidFill>
            <a:srgbClr val="EC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33231" y="1655064"/>
            <a:ext cx="566928" cy="82296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79" y="1847088"/>
            <a:ext cx="3188208" cy="297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1" i="0">
                <a:solidFill>
                  <a:srgbClr val="6C5CE7"/>
                </a:solidFill>
                <a:latin typeface="微软雅黑"/>
                <a:ea typeface="微软雅黑"/>
              </a:rPr>
              <a:t>94%</a:t>
            </a:r>
          </a:p>
          <a:p>
            <a:r>
              <a:rPr sz="1350" b="0" i="0">
                <a:solidFill>
                  <a:srgbClr val="26333E"/>
                </a:solidFill>
                <a:latin typeface="微软雅黑"/>
                <a:ea typeface="微软雅黑"/>
              </a:rPr>
              <a:t>满意度目标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278374"/>
            <a:ext cx="11064240" cy="103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6333E"/>
                </a:solidFill>
                <a:latin typeface="微软雅黑"/>
                <a:ea typeface="微软雅黑"/>
              </a:rPr>
              <a:t>•  </a:t>
            </a:r>
            <a:r>
              <a:rPr sz="1500" b="0" i="0">
                <a:solidFill>
                  <a:srgbClr val="26333E"/>
                </a:solidFill>
                <a:latin typeface="微软雅黑"/>
                <a:ea typeface="微软雅黑"/>
              </a:rPr>
              <a:t>业务规模扩大，传统流程效率成为瓶颈。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333E"/>
                </a:solidFill>
                <a:latin typeface="微软雅黑"/>
                <a:ea typeface="微软雅黑"/>
              </a:rPr>
              <a:t>•  </a:t>
            </a:r>
            <a:r>
              <a:rPr sz="1500" b="0" i="0">
                <a:solidFill>
                  <a:srgbClr val="26333E"/>
                </a:solidFill>
                <a:latin typeface="微软雅黑"/>
                <a:ea typeface="微软雅黑"/>
              </a:rPr>
              <a:t>目标：核心流程线上化、自动化，提升效率 30% 以上。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6333E"/>
                </a:solidFill>
                <a:latin typeface="微软雅黑"/>
                <a:ea typeface="微软雅黑"/>
              </a:rPr>
              <a:t>•  </a:t>
            </a:r>
            <a:r>
              <a:rPr sz="1500" b="0" i="0">
                <a:solidFill>
                  <a:srgbClr val="26333E"/>
                </a:solidFill>
                <a:latin typeface="微软雅黑"/>
                <a:ea typeface="微软雅黑"/>
              </a:rPr>
              <a:t>同时降低运营成本、提高用户满意度。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#ppt_x"/>
                                        </p:tav>
                                        <p:tav tm="100000">
                                          <p:strVal val="#ppt_x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1+#ppt_h/2"/>
                                        </p:tav>
                                        <p:tav tm="100000">
                                          <p:strVal val="#ppt_y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#ppt_x"/>
                                        </p:tav>
                                        <p:tav tm="100000">
                                          <p:strVal val="#ppt_x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1+#ppt_h/2"/>
                                        </p:tav>
                                        <p:tav tm="100000">
                                          <p:strVal val="#ppt_y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#ppt_x"/>
                                        </p:tav>
                                        <p:tav tm="100000">
                                          <p:strVal val="#ppt_x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1+#ppt_h/2"/>
                                        </p:tav>
                                        <p:tav tm="100000">
                                          <p:strVal val="#ppt_y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0" grpId="0"/>
      <p:bldP spid="12" grpId="0"/>
      <p:bldP spid="13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82296" cy="475488"/>
          </a:xfrm>
          <a:prstGeom prst="rect">
            <a:avLst/>
          </a:prstGeom>
          <a:solidFill>
            <a:srgbClr val="12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457200"/>
            <a:ext cx="100584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6333E"/>
                </a:solidFill>
                <a:latin typeface="微软雅黑"/>
                <a:ea typeface="微软雅黑"/>
              </a:rPr>
              <a:t>二、关键数据表现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31089"/>
          </a:xfrm>
          <a:prstGeom prst="rect">
            <a:avLst/>
          </a:prstGeom>
          <a:solidFill>
            <a:srgbClr val="12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6AEB8"/>
                </a:solidFill>
                <a:latin typeface="微软雅黑"/>
                <a:ea typeface="微软雅黑"/>
              </a:rPr>
              <a:t>zhuzhu Copilot · doc-gen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9144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FB8DE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35608"/>
            <a:ext cx="74523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0E5A8A"/>
                </a:solidFill>
                <a:latin typeface="微软雅黑"/>
                <a:ea typeface="微软雅黑"/>
              </a:rPr>
              <a:t>四季度业务量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627985"/>
            <a:ext cx="7452360" cy="7620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3399739"/>
            <a:ext cx="7452360" cy="7620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171492"/>
            <a:ext cx="7452360" cy="7620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943246"/>
            <a:ext cx="7452360" cy="7620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715000"/>
            <a:ext cx="7452360" cy="13970"/>
          </a:xfrm>
          <a:prstGeom prst="rect">
            <a:avLst/>
          </a:prstGeom>
          <a:solidFill>
            <a:srgbClr val="AAB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29968" y="4229086"/>
            <a:ext cx="822960" cy="1485913"/>
          </a:xfrm>
          <a:prstGeom prst="roundRect">
            <a:avLst>
              <a:gd name="adj" fmla="val 18000"/>
            </a:avLst>
          </a:prstGeom>
          <a:solidFill>
            <a:srgbClr val="0E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48916" y="3954766"/>
            <a:ext cx="1185062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6333E"/>
                </a:solidFill>
                <a:latin typeface="微软雅黑"/>
                <a:ea typeface="微软雅黑"/>
              </a:rPr>
              <a:t>120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8916" y="5751576"/>
            <a:ext cx="1185062" cy="34747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C7A8E"/>
                </a:solidFill>
                <a:latin typeface="微软雅黑"/>
                <a:ea typeface="微软雅黑"/>
              </a:rPr>
              <a:t>Q1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64408" y="3671868"/>
            <a:ext cx="822960" cy="2043131"/>
          </a:xfrm>
          <a:prstGeom prst="roundRect">
            <a:avLst>
              <a:gd name="adj" fmla="val 18000"/>
            </a:avLst>
          </a:prstGeom>
          <a:solidFill>
            <a:srgbClr val="12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3356" y="3397548"/>
            <a:ext cx="1185062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6333E"/>
                </a:solidFill>
                <a:latin typeface="微软雅黑"/>
                <a:ea typeface="微软雅黑"/>
              </a:rPr>
              <a:t>165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3356" y="5751576"/>
            <a:ext cx="1185062" cy="34747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C7A8E"/>
                </a:solidFill>
                <a:latin typeface="微软雅黑"/>
                <a:ea typeface="微软雅黑"/>
              </a:rPr>
              <a:t>Q2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8848" y="3114651"/>
            <a:ext cx="822960" cy="2600348"/>
          </a:xfrm>
          <a:prstGeom prst="roundRect">
            <a:avLst>
              <a:gd name="adj" fmla="val 18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7796" y="2840331"/>
            <a:ext cx="1185062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6333E"/>
                </a:solidFill>
                <a:latin typeface="微软雅黑"/>
                <a:ea typeface="微软雅黑"/>
              </a:rPr>
              <a:t>210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7796" y="5751576"/>
            <a:ext cx="1185062" cy="34747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C7A8E"/>
                </a:solidFill>
                <a:latin typeface="微软雅黑"/>
                <a:ea typeface="微软雅黑"/>
              </a:rPr>
              <a:t>Q3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33288" y="2396459"/>
            <a:ext cx="822960" cy="3318540"/>
          </a:xfrm>
          <a:prstGeom prst="roundRect">
            <a:avLst>
              <a:gd name="adj" fmla="val 18000"/>
            </a:avLst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2236" y="2122139"/>
            <a:ext cx="1185062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6333E"/>
                </a:solidFill>
                <a:latin typeface="微软雅黑"/>
                <a:ea typeface="微软雅黑"/>
              </a:rPr>
              <a:t>268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2236" y="5751576"/>
            <a:ext cx="1185062" cy="34747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C7A8E"/>
                </a:solidFill>
                <a:latin typeface="微软雅黑"/>
                <a:ea typeface="微软雅黑"/>
              </a:rPr>
              <a:t>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1664208"/>
            <a:ext cx="31025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6333E"/>
                </a:solidFill>
                <a:latin typeface="微软雅黑"/>
                <a:ea typeface="微软雅黑"/>
              </a:rPr>
              <a:t>•  </a:t>
            </a:r>
            <a:r>
              <a:rPr sz="1500" b="0" i="0">
                <a:solidFill>
                  <a:srgbClr val="26333E"/>
                </a:solidFill>
                <a:latin typeface="微软雅黑"/>
                <a:ea typeface="微软雅黑"/>
              </a:rPr>
              <a:t>四个季度持续增长，Q4 业务量达到 268。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#ppt_x"/>
                                        </p:tav>
                                        <p:tav tm="100000">
                                          <p:strVal val="#ppt_x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1+#ppt_h/2"/>
                                        </p:tav>
                                        <p:tav tm="100000">
                                          <p:strVal val="#ppt_y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#ppt_x"/>
                                        </p:tav>
                                        <p:tav tm="100000">
                                          <p:strVal val="#ppt_x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1+#ppt_h/2"/>
                                        </p:tav>
                                        <p:tav tm="100000">
                                          <p:strVal val="#ppt_y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#ppt_x"/>
                                        </p:tav>
                                        <p:tav tm="100000">
                                          <p:strVal val="#ppt_x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1+#ppt_h/2"/>
                                        </p:tav>
                                        <p:tav tm="100000">
                                          <p:strVal val="#ppt_y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0-#ppt_w/2"/>
                                        </p:tav>
                                        <p:tav tm="100000">
                                          <p:strVal val="#ppt_x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#ppt_y"/>
                                        </p:tav>
                                        <p:tav tm="100000">
                                          <p:strVal val="#ppt_y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#ppt_x"/>
                                        </p:tav>
                                        <p:tav tm="100000">
                                          <p:strVal val="#ppt_x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1+#ppt_h/2"/>
                                        </p:tav>
                                        <p:tav tm="100000">
                                          <p:strVal val="#ppt_y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0-#ppt_w/2"/>
                                        </p:tav>
                                        <p:tav tm="100000">
                                          <p:strVal val="#ppt_x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#ppt_y"/>
                                        </p:tav>
                                        <p:tav tm="100000">
                                          <p:strVal val="#ppt_y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#ppt_x"/>
                                        </p:tav>
                                        <p:tav tm="100000">
                                          <p:strVal val="#ppt_x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1+#ppt_h/2"/>
                                        </p:tav>
                                        <p:tav tm="100000">
                                          <p:strVal val="#ppt_y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0-#ppt_w/2"/>
                                        </p:tav>
                                        <p:tav tm="100000">
                                          <p:strVal val="#ppt_x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#ppt_y"/>
                                        </p:tav>
                                        <p:tav tm="100000">
                                          <p:strVal val="#ppt_y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#ppt_x"/>
                                        </p:tav>
                                        <p:tav tm="100000">
                                          <p:strVal val="#ppt_x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1+#ppt_h/2"/>
                                        </p:tav>
                                        <p:tav tm="100000">
                                          <p:strVal val="#ppt_y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0-#ppt_w/2"/>
                                        </p:tav>
                                        <p:tav tm="100000">
                                          <p:strVal val="#ppt_x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#ppt_y"/>
                                        </p:tav>
                                        <p:tav tm="100000">
                                          <p:strVal val="#ppt_y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#ppt_x"/>
                                        </p:tav>
                                        <p:tav tm="100000">
                                          <p:strVal val="#ppt_x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1+#ppt_h/2"/>
                                        </p:tav>
                                        <p:tav tm="100000">
                                          <p:strVal val="#ppt_y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#ppt_x"/>
                                        </p:tav>
                                        <p:tav tm="100000">
                                          <p:strVal val="#ppt_x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1+#ppt_h/2"/>
                                        </p:tav>
                                        <p:tav tm="100000">
                                          <p:strVal val="#ppt_y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25" grpId="0"/>
      <p:bldP spid="22" grpId="0"/>
      <p:bldP spid="23" grpId="0"/>
      <p:bldP spid="19" grpId="0"/>
      <p:bldP spid="20" grpId="0"/>
      <p:bldP spid="13" grpId="0"/>
      <p:bldP spid="14" grpId="0"/>
      <p:bldP spid="16" grpId="0"/>
      <p:bldP spid="17" grpId="0"/>
      <p:bldP spid="15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82296" cy="475488"/>
          </a:xfrm>
          <a:prstGeom prst="rect">
            <a:avLst/>
          </a:prstGeom>
          <a:solidFill>
            <a:srgbClr val="12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457200"/>
            <a:ext cx="100584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6333E"/>
                </a:solidFill>
                <a:latin typeface="微软雅黑"/>
                <a:ea typeface="微软雅黑"/>
              </a:rPr>
              <a:t>三、关键指标对照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31089"/>
          </a:xfrm>
          <a:prstGeom prst="rect">
            <a:avLst/>
          </a:prstGeom>
          <a:solidFill>
            <a:srgbClr val="12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6AEB8"/>
                </a:solidFill>
                <a:latin typeface="微软雅黑"/>
                <a:ea typeface="微软雅黑"/>
              </a:rPr>
              <a:t>zhuzhu Copilot · doc-gen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9144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FB8DE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44168"/>
            <a:ext cx="11283696" cy="1700784"/>
          </a:xfrm>
          <a:prstGeom prst="roundRect">
            <a:avLst>
              <a:gd name="adj" fmla="val 3000"/>
            </a:avLst>
          </a:prstGeom>
          <a:solidFill>
            <a:srgbClr val="F4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35608"/>
          <a:ext cx="110642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1211"/>
                <a:gridCol w="3161211"/>
                <a:gridCol w="3161211"/>
                <a:gridCol w="158060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L="54864" marR="54864" marT="27432" marB="27432">
                    <a:solidFill>
                      <a:srgbClr val="0E5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目标</a:t>
                      </a:r>
                    </a:p>
                  </a:txBody>
                  <a:tcPr marL="54864" marR="54864" marT="27432" marB="27432">
                    <a:solidFill>
                      <a:srgbClr val="0E5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实际</a:t>
                      </a:r>
                    </a:p>
                  </a:txBody>
                  <a:tcPr marL="54864" marR="54864" marT="27432" marB="27432">
                    <a:solidFill>
                      <a:srgbClr val="0E5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结论</a:t>
                      </a:r>
                    </a:p>
                  </a:txBody>
                  <a:tcPr marL="54864" marR="54864" marT="27432" marB="27432">
                    <a:solidFill>
                      <a:srgbClr val="0E5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333E"/>
                          </a:solidFill>
                          <a:latin typeface="微软雅黑"/>
                          <a:ea typeface="微软雅黑"/>
                        </a:rPr>
                        <a:t>效率提升</a:t>
                      </a:r>
                    </a:p>
                  </a:txBody>
                  <a:tcPr marL="54864" marR="54864" marT="27432" marB="27432"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333E"/>
                          </a:solidFill>
                          <a:latin typeface="微软雅黑"/>
                          <a:ea typeface="微软雅黑"/>
                        </a:rPr>
                        <a:t>+20%</a:t>
                      </a:r>
                    </a:p>
                  </a:txBody>
                  <a:tcPr marL="54864" marR="54864" marT="27432" marB="27432"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333E"/>
                          </a:solidFill>
                          <a:latin typeface="微软雅黑"/>
                          <a:ea typeface="微软雅黑"/>
                        </a:rPr>
                        <a:t>+33%</a:t>
                      </a:r>
                    </a:p>
                  </a:txBody>
                  <a:tcPr marL="54864" marR="54864" marT="27432" marB="27432"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333E"/>
                          </a:solidFill>
                          <a:latin typeface="微软雅黑"/>
                          <a:ea typeface="微软雅黑"/>
                        </a:rPr>
                        <a:t>超额</a:t>
                      </a:r>
                    </a:p>
                  </a:txBody>
                  <a:tcPr marL="54864" marR="54864" marT="27432" marB="27432">
                    <a:solidFill>
                      <a:srgbClr val="F4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333E"/>
                          </a:solidFill>
                          <a:latin typeface="微软雅黑"/>
                          <a:ea typeface="微软雅黑"/>
                        </a:rPr>
                        <a:t>成本下降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333E"/>
                          </a:solidFill>
                          <a:latin typeface="微软雅黑"/>
                          <a:ea typeface="微软雅黑"/>
                        </a:rPr>
                        <a:t>-10%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333E"/>
                          </a:solidFill>
                          <a:latin typeface="微软雅黑"/>
                          <a:ea typeface="微软雅黑"/>
                        </a:rPr>
                        <a:t>-14%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333E"/>
                          </a:solidFill>
                          <a:latin typeface="微软雅黑"/>
                          <a:ea typeface="微软雅黑"/>
                        </a:rPr>
                        <a:t>达成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333E"/>
                          </a:solidFill>
                          <a:latin typeface="微软雅黑"/>
                          <a:ea typeface="微软雅黑"/>
                        </a:rPr>
                        <a:t>满意度</a:t>
                      </a:r>
                    </a:p>
                  </a:txBody>
                  <a:tcPr marL="54864" marR="54864" marT="27432" marB="27432"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333E"/>
                          </a:solidFill>
                          <a:latin typeface="微软雅黑"/>
                          <a:ea typeface="微软雅黑"/>
                        </a:rPr>
                        <a:t>90%</a:t>
                      </a:r>
                    </a:p>
                  </a:txBody>
                  <a:tcPr marL="54864" marR="54864" marT="27432" marB="27432"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333E"/>
                          </a:solidFill>
                          <a:latin typeface="微软雅黑"/>
                          <a:ea typeface="微软雅黑"/>
                        </a:rPr>
                        <a:t>94%</a:t>
                      </a:r>
                    </a:p>
                  </a:txBody>
                  <a:tcPr marL="54864" marR="54864" marT="27432" marB="27432">
                    <a:solidFill>
                      <a:srgbClr val="F4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6333E"/>
                          </a:solidFill>
                          <a:latin typeface="微软雅黑"/>
                          <a:ea typeface="微软雅黑"/>
                        </a:rPr>
                        <a:t>超额</a:t>
                      </a:r>
                    </a:p>
                  </a:txBody>
                  <a:tcPr marL="54864" marR="54864" marT="27432" marB="27432">
                    <a:solidFill>
                      <a:srgbClr val="F4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fltVal val="0"/>
                                        </p:tav>
                                        <p:tav tm="100000">
                                          <p:strVal val="#ppt_w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fltVal val="0"/>
                                        </p:tav>
                                        <p:tav tm="100000">
                                          <p:strVal val="#ppt_h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0-#ppt_w/2"/>
                                        </p:tav>
                                        <p:tav tm="100000">
                                          <p:strVal val="#ppt_x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strVal val="#ppt_y"/>
                                        </p:tav>
                                        <p:tav tm="100000">
                                          <p:strVal val="#ppt_y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fltVal val="0"/>
                                        </p:tav>
                                        <p:tav tm="100000">
                                          <p:strVal val="#ppt_w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fltVal val="0"/>
                                        </p:tav>
                                        <p:tav tm="100000">
                                          <p:strVal val="#ppt_h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7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12064"/>
            <a:ext cx="82296" cy="475488"/>
          </a:xfrm>
          <a:prstGeom prst="rect">
            <a:avLst/>
          </a:prstGeom>
          <a:solidFill>
            <a:srgbClr val="12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7" y="457200"/>
            <a:ext cx="100584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6333E"/>
                </a:solidFill>
                <a:latin typeface="微软雅黑"/>
                <a:ea typeface="微软雅黑"/>
              </a:rPr>
              <a:t>四、结论与建议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1064240" cy="31089"/>
          </a:xfrm>
          <a:prstGeom prst="rect">
            <a:avLst/>
          </a:prstGeom>
          <a:solidFill>
            <a:srgbClr val="12A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6AEB8"/>
                </a:solidFill>
                <a:latin typeface="微软雅黑"/>
                <a:ea typeface="微软雅黑"/>
              </a:rPr>
              <a:t>zhuzhu Copilot · doc-gen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9144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7FB8DE"/>
                </a:solidFill>
                <a:latin typeface="微软雅黑"/>
                <a:ea typeface="微软雅黑"/>
              </a:rPr>
              <a:t>6</a:t>
            </a:r>
          </a:p>
        </p:txBody>
      </p:sp>
      <p:pic>
        <p:nvPicPr>
          <p:cNvPr id="7" name="Picture 6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047" y="1801368"/>
            <a:ext cx="2438400" cy="2438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6207" y="1572768"/>
            <a:ext cx="5394960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 i="0">
                <a:solidFill>
                  <a:srgbClr val="26333E"/>
                </a:solidFill>
                <a:latin typeface="微软雅黑"/>
                <a:ea typeface="微软雅黑"/>
              </a:rPr>
              <a:t>•  </a:t>
            </a:r>
            <a:r>
              <a:rPr sz="1600" b="0" i="0">
                <a:solidFill>
                  <a:srgbClr val="26333E"/>
                </a:solidFill>
                <a:latin typeface="微软雅黑"/>
                <a:ea typeface="微软雅黑"/>
              </a:rPr>
              <a:t>各项关键指标均达成或超额完成。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6333E"/>
                </a:solidFill>
                <a:latin typeface="微软雅黑"/>
                <a:ea typeface="微软雅黑"/>
              </a:rPr>
              <a:t>•  </a:t>
            </a:r>
            <a:r>
              <a:rPr sz="1600" b="0" i="0">
                <a:solidFill>
                  <a:srgbClr val="26333E"/>
                </a:solidFill>
                <a:latin typeface="微软雅黑"/>
                <a:ea typeface="微软雅黑"/>
              </a:rPr>
              <a:t>建议扩大推广范围，并持续优化自动化流程。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6333E"/>
                </a:solidFill>
                <a:latin typeface="微软雅黑"/>
                <a:ea typeface="微软雅黑"/>
              </a:rPr>
              <a:t>•  </a:t>
            </a:r>
            <a:r>
              <a:rPr sz="1600" b="0" i="0">
                <a:solidFill>
                  <a:srgbClr val="26333E"/>
                </a:solidFill>
                <a:latin typeface="微软雅黑"/>
                <a:ea typeface="微软雅黑"/>
              </a:rPr>
              <a:t>下阶段聚焦数据看板与智能预警建设。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fltVal val="0"/>
                                        </p:tav>
                                        <p:tav tm="100000">
                                          <p:strVal val="#ppt_w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fltVal val="0"/>
                                        </p:tav>
                                        <p:tav tm="100000">
                                          <p:strVal val="#ppt_h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fltVal val="0"/>
                                        </p:tav>
                                        <p:tav tm="100000">
                                          <p:strVal val="#ppt_w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fltVal val="0"/>
                                        </p:tav>
                                        <p:tav tm="100000">
                                          <p:strVal val="#ppt_h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fltVal val="0"/>
                                        </p:tav>
                                        <p:tav tm="100000">
                                          <p:strVal val="#ppt_w"/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fltVal val="0"/>
                                        </p:tav>
                                        <p:tav tm="100000">
                                          <p:strVal val="#ppt_h"/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