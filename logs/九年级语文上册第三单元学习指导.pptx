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005840"/>
            <a:ext cx="3566160" cy="3566160"/>
          </a:xfrm>
          <a:prstGeom prst="ellipse">
            <a:avLst/>
          </a:prstGeom>
          <a:solidFill>
            <a:srgbClr val="D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852160"/>
            <a:ext cx="2834640" cy="2834640"/>
          </a:xfrm>
          <a:prstGeom prst="ellipse">
            <a:avLst/>
          </a:prstGeom>
          <a:solidFill>
            <a:srgbClr val="13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0152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宋体"/>
                <a:ea typeface="宋体"/>
              </a:rPr>
              <a:t>九年级语文上册第三单元学习指导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4041648"/>
            <a:ext cx="1216152" cy="45720"/>
          </a:xfrm>
          <a:prstGeom prst="rect">
            <a:avLst/>
          </a:prstGeom>
          <a:solidFill>
            <a:srgbClr val="D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2E0"/>
                </a:solidFill>
                <a:latin typeface="宋体"/>
                <a:ea typeface="宋体"/>
              </a:rPr>
              <a:t/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D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F3642"/>
                </a:solidFill>
                <a:latin typeface="宋体"/>
                <a:ea typeface="宋体"/>
              </a:rPr>
              <a:t>九年级语文上册第三单元学习指导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1005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宋体"/>
                <a:ea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6424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高效背诵古诗文的方法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重点词语和句子练习方法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典型课文练习题示例及解析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单元测试常见题型及答题技巧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D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F3642"/>
                </a:solidFill>
                <a:latin typeface="宋体"/>
                <a:ea typeface="宋体"/>
              </a:rPr>
              <a:t>一、高效背诵古诗文的方法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1005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宋体"/>
                <a:ea typeface="宋体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6424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理解记忆法：理解诗句含义，联系画面和情境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分层突破法：分段背诵，逐步推进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联想记忆法：联想意境、典故、生活实际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滚动复习法：及时复习，巩固记忆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口诀记忆法：编顺口溜，利用谐音押韵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D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F3642"/>
                </a:solidFill>
                <a:latin typeface="宋体"/>
                <a:ea typeface="宋体"/>
              </a:rPr>
              <a:t>二、重点词语练习方法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1005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35608"/>
            <a:ext cx="2615184" cy="4023360"/>
          </a:xfrm>
          <a:prstGeom prst="roundRect">
            <a:avLst>
              <a:gd name="adj" fmla="val 5000"/>
            </a:avLst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55064"/>
            <a:ext cx="566928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47088"/>
            <a:ext cx="22494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1F3864"/>
                </a:solidFill>
                <a:latin typeface="宋体"/>
                <a:ea typeface="宋体"/>
              </a:rPr>
              <a:t>一词多义</a:t>
            </a:r>
          </a:p>
          <a:p>
            <a:r>
              <a:rPr sz="1350" b="0" i="0">
                <a:solidFill>
                  <a:srgbClr val="2F3642"/>
                </a:solidFill>
                <a:latin typeface="宋体"/>
                <a:ea typeface="宋体"/>
              </a:rPr>
              <a:t>建立词语含义表格，如"之"有代词、助词、动词等不同用法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35608"/>
            <a:ext cx="2615184" cy="4023360"/>
          </a:xfrm>
          <a:prstGeom prst="roundRect">
            <a:avLst>
              <a:gd name="adj" fmla="val 5000"/>
            </a:avLst>
          </a:prstGeom>
          <a:solidFill>
            <a:srgbClr val="F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39312" y="1655064"/>
            <a:ext cx="566928" cy="82296"/>
          </a:xfrm>
          <a:prstGeom prst="rect">
            <a:avLst/>
          </a:prstGeom>
          <a:solidFill>
            <a:srgbClr val="D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47088"/>
            <a:ext cx="22494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D6A23C"/>
                </a:solidFill>
                <a:latin typeface="宋体"/>
                <a:ea typeface="宋体"/>
              </a:rPr>
              <a:t>古今异义</a:t>
            </a:r>
          </a:p>
          <a:p>
            <a:r>
              <a:rPr sz="1350" b="0" i="0">
                <a:solidFill>
                  <a:srgbClr val="2F3642"/>
                </a:solidFill>
                <a:latin typeface="宋体"/>
                <a:ea typeface="宋体"/>
              </a:rPr>
              <a:t>标注古今含义差异，如"妻子"古义为妻子和子女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35608"/>
            <a:ext cx="2615184" cy="4023360"/>
          </a:xfrm>
          <a:prstGeom prst="roundRect">
            <a:avLst>
              <a:gd name="adj" fmla="val 5000"/>
            </a:avLst>
          </a:prstGeom>
          <a:solidFill>
            <a:srgbClr val="E4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55664" y="1655064"/>
            <a:ext cx="566928" cy="82296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47088"/>
            <a:ext cx="22494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2E7D8A"/>
                </a:solidFill>
                <a:latin typeface="宋体"/>
                <a:ea typeface="宋体"/>
              </a:rPr>
              <a:t>通假字</a:t>
            </a:r>
          </a:p>
          <a:p>
            <a:r>
              <a:rPr sz="1350" b="0" i="0">
                <a:solidFill>
                  <a:srgbClr val="2F3642"/>
                </a:solidFill>
                <a:latin typeface="宋体"/>
                <a:ea typeface="宋体"/>
              </a:rPr>
              <a:t>熟记常见通假字及其本字，如"属"通"嘱"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435608"/>
            <a:ext cx="2615184" cy="4023360"/>
          </a:xfrm>
          <a:prstGeom prst="roundRect">
            <a:avLst>
              <a:gd name="adj" fmla="val 5000"/>
            </a:avLst>
          </a:prstGeom>
          <a:solidFill>
            <a:srgbClr val="EC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72015" y="1655064"/>
            <a:ext cx="566928" cy="82296"/>
          </a:xfrm>
          <a:prstGeom prst="rect">
            <a:avLst/>
          </a:prstGeom>
          <a:solidFill>
            <a:srgbClr val="6B7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3" y="1847088"/>
            <a:ext cx="22494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6B7FD7"/>
                </a:solidFill>
                <a:latin typeface="宋体"/>
                <a:ea typeface="宋体"/>
              </a:rPr>
              <a:t>词类活用</a:t>
            </a:r>
          </a:p>
          <a:p>
            <a:r>
              <a:rPr sz="1350" b="0" i="0">
                <a:solidFill>
                  <a:srgbClr val="2F3642"/>
                </a:solidFill>
                <a:latin typeface="宋体"/>
                <a:ea typeface="宋体"/>
              </a:rPr>
              <a:t>理解名词作状语、使动用法等特殊用法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5" grpId="0"/>
      <p:bldP spid="8" grpId="0"/>
      <p:bldP spid="11" grpId="0"/>
      <p:bldP spid="14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D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F3642"/>
                </a:solidFill>
                <a:latin typeface="宋体"/>
                <a:ea typeface="宋体"/>
              </a:rPr>
              <a:t>三、重点虚词辨析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1005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宋体"/>
                <a:ea typeface="宋体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44168"/>
            <a:ext cx="11283696" cy="2322576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35608"/>
          <a:ext cx="110642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154"/>
                <a:gridCol w="4961542"/>
                <a:gridCol w="496154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虚词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常见用法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例句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之</a:t>
                      </a:r>
                    </a:p>
                  </a:txBody>
                  <a:tcPr marL="54864" marR="54864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代词/助词/动词</a:t>
                      </a:r>
                    </a:p>
                  </a:txBody>
                  <a:tcPr marL="54864" marR="54864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览物之情，得无异乎</a:t>
                      </a:r>
                    </a:p>
                  </a:txBody>
                  <a:tcPr marL="54864" marR="54864" marT="27432" marB="27432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连词（并列/转折）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饮少辄醉，而年又最高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以</a:t>
                      </a:r>
                    </a:p>
                  </a:txBody>
                  <a:tcPr marL="54864" marR="54864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介词/连词</a:t>
                      </a:r>
                    </a:p>
                  </a:txBody>
                  <a:tcPr marL="54864" marR="54864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属予作文以记之</a:t>
                      </a:r>
                    </a:p>
                  </a:txBody>
                  <a:tcPr marL="54864" marR="54864" marT="27432" marB="27432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于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介词（在/从/比）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刻唐贤今人诗赋于其上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其</a:t>
                      </a:r>
                    </a:p>
                  </a:txBody>
                  <a:tcPr marL="54864" marR="54864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代词/语气词</a:t>
                      </a:r>
                    </a:p>
                  </a:txBody>
                  <a:tcPr marL="54864" marR="54864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F3642"/>
                          </a:solidFill>
                          <a:latin typeface="宋体"/>
                          <a:ea typeface="宋体"/>
                        </a:rPr>
                        <a:t>其必曰先天下之忧而忧</a:t>
                      </a:r>
                    </a:p>
                  </a:txBody>
                  <a:tcPr marL="54864" marR="54864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D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F3642"/>
                </a:solidFill>
                <a:latin typeface="宋体"/>
                <a:ea typeface="宋体"/>
              </a:rPr>
              <a:t>四、文言文翻译技巧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1005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宋体"/>
                <a:ea typeface="宋体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6424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直译为主，意译为辅：逐字对应翻译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关注特殊句式：判断句、倒装句、省略句、被动句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保留专有名词：人名、地名、官名等不翻译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补充省略成分：使句子意思完整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D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F3642"/>
                </a:solidFill>
                <a:latin typeface="宋体"/>
                <a:ea typeface="宋体"/>
              </a:rPr>
              <a:t>五、典型课文练习题示例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1005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宋体"/>
                <a:ea typeface="宋体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6424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【《岳阳楼记》】解释加点词：增其旧制（规模） 属予作文以记之（通"嘱"，嘱托）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【《醉翁亭记》】翻译句子：人知从太守游而乐，而不知太守之乐其乐也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【《湖心亭看雪》】赏析：大雪三日，湖中人鸟声俱绝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2F3642"/>
                </a:solidFill>
                <a:latin typeface="宋体"/>
                <a:ea typeface="宋体"/>
              </a:rPr>
              <a:t>•  【综合题】理解性默写与内容探究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